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Perfect Store — Logical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Pipeline for Retail CPG Execution  |  India 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783080" y="777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PIPELINE  (Sequential Orchestration)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0" y="777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LAYER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223760" y="777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/ LLM BACKEND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1188720" cy="502920"/>
          </a:xfrm>
          <a:prstGeom prst="rect">
            <a:avLst/>
          </a:prstGeom>
          <a:solidFill>
            <a:srgbClr val="4A7C6B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005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inbox/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XLSX files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1188720" cy="365760"/>
          </a:xfrm>
          <a:prstGeom prst="rect">
            <a:avLst/>
          </a:prstGeom>
          <a:solidFill>
            <a:srgbClr val="84B59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664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Watcher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1508760"/>
            <a:ext cx="0" cy="155448"/>
          </a:xfrm>
          <a:prstGeom prst="line">
            <a:avLst/>
          </a:prstGeom>
          <a:noFill/>
          <a:ln w="1524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508760" y="1847088"/>
            <a:ext cx="274320" cy="0"/>
          </a:xfrm>
          <a:prstGeom prst="line">
            <a:avLst/>
          </a:prstGeom>
          <a:noFill/>
          <a:ln w="1524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828800" y="1005840"/>
            <a:ext cx="2377440" cy="438912"/>
          </a:xfrm>
          <a:prstGeom prst="rect">
            <a:avLst/>
          </a:prstGeom>
          <a:solidFill>
            <a:srgbClr val="2D4A3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01952" y="1078992"/>
            <a:ext cx="292608" cy="292608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16" name="Text 14"/>
          <p:cNvSpPr/>
          <p:nvPr/>
        </p:nvSpPr>
        <p:spPr>
          <a:xfrm>
            <a:off x="1901952" y="1078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67712" y="10241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Agent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67712" y="12252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checks, outliers → LLM DQ verdict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017520" y="1444752"/>
            <a:ext cx="0" cy="128016"/>
          </a:xfrm>
          <a:prstGeom prst="line">
            <a:avLst/>
          </a:prstGeom>
          <a:noFill/>
          <a:ln w="1270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79392" y="1115568"/>
            <a:ext cx="822960" cy="219456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21" name="Text 19"/>
          <p:cNvSpPr/>
          <p:nvPr/>
        </p:nvSpPr>
        <p:spPr>
          <a:xfrm>
            <a:off x="4279392" y="11155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Context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206240" y="1225296"/>
            <a:ext cx="960120" cy="0"/>
          </a:xfrm>
          <a:prstGeom prst="line">
            <a:avLst/>
          </a:prstGeom>
          <a:noFill/>
          <a:ln w="7620">
            <a:solidFill>
              <a:srgbClr val="4A7C6B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828800" y="1572768"/>
            <a:ext cx="2377440" cy="438912"/>
          </a:xfrm>
          <a:prstGeom prst="rect">
            <a:avLst/>
          </a:prstGeom>
          <a:solidFill>
            <a:srgbClr val="2D4A3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901952" y="1645920"/>
            <a:ext cx="292608" cy="292608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25" name="Text 23"/>
          <p:cNvSpPr/>
          <p:nvPr/>
        </p:nvSpPr>
        <p:spPr>
          <a:xfrm>
            <a:off x="1901952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67712" y="1591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Agent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67712" y="17922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A/B/C/D tiers, Quantile Regression, gaps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017520" y="2011680"/>
            <a:ext cx="0" cy="128016"/>
          </a:xfrm>
          <a:prstGeom prst="line">
            <a:avLst/>
          </a:prstGeom>
          <a:noFill/>
          <a:ln w="1270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279392" y="1682496"/>
            <a:ext cx="822960" cy="219456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30" name="Text 28"/>
          <p:cNvSpPr/>
          <p:nvPr/>
        </p:nvSpPr>
        <p:spPr>
          <a:xfrm>
            <a:off x="4279392" y="16824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Context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206240" y="1792224"/>
            <a:ext cx="960120" cy="0"/>
          </a:xfrm>
          <a:prstGeom prst="line">
            <a:avLst/>
          </a:prstGeom>
          <a:noFill/>
          <a:ln w="7620">
            <a:solidFill>
              <a:srgbClr val="4A7C6B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828800" y="2139696"/>
            <a:ext cx="2377440" cy="438912"/>
          </a:xfrm>
          <a:prstGeom prst="rect">
            <a:avLst/>
          </a:prstGeom>
          <a:solidFill>
            <a:srgbClr val="2D4A3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901952" y="2212848"/>
            <a:ext cx="292608" cy="292608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34" name="Text 32"/>
          <p:cNvSpPr/>
          <p:nvPr/>
        </p:nvSpPr>
        <p:spPr>
          <a:xfrm>
            <a:off x="1901952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67712" y="21579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Agent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67712" y="2359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25+ features → LLM cluster labels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017520" y="2578608"/>
            <a:ext cx="0" cy="128016"/>
          </a:xfrm>
          <a:prstGeom prst="line">
            <a:avLst/>
          </a:prstGeom>
          <a:noFill/>
          <a:ln w="1270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279392" y="2249424"/>
            <a:ext cx="822960" cy="219456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39" name="Text 37"/>
          <p:cNvSpPr/>
          <p:nvPr/>
        </p:nvSpPr>
        <p:spPr>
          <a:xfrm>
            <a:off x="4279392" y="22494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Labels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206240" y="2359152"/>
            <a:ext cx="960120" cy="0"/>
          </a:xfrm>
          <a:prstGeom prst="line">
            <a:avLst/>
          </a:prstGeom>
          <a:noFill/>
          <a:ln w="7620">
            <a:solidFill>
              <a:srgbClr val="4A7C6B"/>
            </a:solidFill>
            <a:prstDash val="dash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828800" y="2706624"/>
            <a:ext cx="2377440" cy="438912"/>
          </a:xfrm>
          <a:prstGeom prst="rect">
            <a:avLst/>
          </a:prstGeom>
          <a:solidFill>
            <a:srgbClr val="2D4A3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901952" y="2779776"/>
            <a:ext cx="292608" cy="292608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43" name="Text 41"/>
          <p:cNvSpPr/>
          <p:nvPr/>
        </p:nvSpPr>
        <p:spPr>
          <a:xfrm>
            <a:off x="1901952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267712" y="2724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 Generator Agent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267712" y="2926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/ Strategic SKU classification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017520" y="3145536"/>
            <a:ext cx="0" cy="128016"/>
          </a:xfrm>
          <a:prstGeom prst="line">
            <a:avLst/>
          </a:prstGeom>
          <a:noFill/>
          <a:ln w="1270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206240" y="2926080"/>
            <a:ext cx="960120" cy="0"/>
          </a:xfrm>
          <a:prstGeom prst="line">
            <a:avLst/>
          </a:prstGeom>
          <a:noFill/>
          <a:ln w="7620">
            <a:solidFill>
              <a:srgbClr val="4A7C6B"/>
            </a:solidFill>
            <a:prstDash val="dash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828800" y="3273552"/>
            <a:ext cx="2377440" cy="438912"/>
          </a:xfrm>
          <a:prstGeom prst="rect">
            <a:avLst/>
          </a:prstGeom>
          <a:solidFill>
            <a:srgbClr val="2D4A3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901952" y="3346704"/>
            <a:ext cx="292608" cy="292608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50" name="Text 48"/>
          <p:cNvSpPr/>
          <p:nvPr/>
        </p:nvSpPr>
        <p:spPr>
          <a:xfrm>
            <a:off x="1901952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267712" y="3291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Agent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267712" y="3493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reports, Excel, segment CSVs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017520" y="3712464"/>
            <a:ext cx="0" cy="128016"/>
          </a:xfrm>
          <a:prstGeom prst="line">
            <a:avLst/>
          </a:prstGeom>
          <a:noFill/>
          <a:ln w="1270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828800" y="3840480"/>
            <a:ext cx="2377440" cy="438912"/>
          </a:xfrm>
          <a:prstGeom prst="rect">
            <a:avLst/>
          </a:prstGeom>
          <a:solidFill>
            <a:srgbClr val="2D4A3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901952" y="3913632"/>
            <a:ext cx="292608" cy="292608"/>
          </a:xfrm>
          <a:prstGeom prst="ellipse">
            <a:avLst/>
          </a:prstGeom>
          <a:solidFill>
            <a:srgbClr val="4A7C6B"/>
          </a:solidFill>
          <a:ln/>
        </p:spPr>
      </p:sp>
      <p:sp>
        <p:nvSpPr>
          <p:cNvPr id="56" name="Text 54"/>
          <p:cNvSpPr/>
          <p:nvPr/>
        </p:nvSpPr>
        <p:spPr>
          <a:xfrm>
            <a:off x="1901952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267712" y="3858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Allocation Agent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267712" y="40599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facings, shelf zones, 7-day DoS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206240" y="4059936"/>
            <a:ext cx="960120" cy="0"/>
          </a:xfrm>
          <a:prstGeom prst="line">
            <a:avLst/>
          </a:prstGeom>
          <a:noFill/>
          <a:ln w="7620">
            <a:solidFill>
              <a:srgbClr val="4A7C6B"/>
            </a:solidFill>
            <a:prstDash val="dash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5303520" y="1005840"/>
            <a:ext cx="1645920" cy="365760"/>
          </a:xfrm>
          <a:prstGeom prst="rect">
            <a:avLst/>
          </a:prstGeom>
          <a:solidFill>
            <a:srgbClr val="D4956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303520" y="1005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ContextLoader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system prompts per agent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03520" y="1463040"/>
            <a:ext cx="1645920" cy="320040"/>
          </a:xfrm>
          <a:prstGeom prst="rect">
            <a:avLst/>
          </a:prstGeom>
          <a:solidFill>
            <a:srgbClr val="E8F0EC"/>
          </a:solidFill>
          <a:ln w="7620">
            <a:solidFill>
              <a:srgbClr val="84B59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4924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context/project.md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model, channels, metrics, glossary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303520" y="1874520"/>
            <a:ext cx="777240" cy="228600"/>
          </a:xfrm>
          <a:prstGeom prst="rect">
            <a:avLst/>
          </a:prstGeom>
          <a:solidFill>
            <a:srgbClr val="E8F0EC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0" y="18745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segmentation.md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6172200" y="1874520"/>
            <a:ext cx="777240" cy="228600"/>
          </a:xfrm>
          <a:prstGeom prst="rect">
            <a:avLst/>
          </a:prstGeom>
          <a:solidFill>
            <a:srgbClr val="E8F0EC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72200" y="18745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prioritization.md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5303520" y="2167128"/>
            <a:ext cx="777240" cy="228600"/>
          </a:xfrm>
          <a:prstGeom prst="rect">
            <a:avLst/>
          </a:prstGeom>
          <a:solidFill>
            <a:srgbClr val="E8F0EC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03520" y="216712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msl.md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6172200" y="2167128"/>
            <a:ext cx="777240" cy="228600"/>
          </a:xfrm>
          <a:prstGeom prst="rect">
            <a:avLst/>
          </a:prstGeom>
          <a:solidFill>
            <a:srgbClr val="E8F0EC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72200" y="216712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space_alloc.md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5257800" y="1188720"/>
            <a:ext cx="-868680" cy="0"/>
          </a:xfrm>
          <a:prstGeom prst="line">
            <a:avLst/>
          </a:prstGeom>
          <a:noFill/>
          <a:ln w="12700">
            <a:solidFill>
              <a:srgbClr val="D4956A"/>
            </a:solidFill>
            <a:prstDash val="dash"/>
            <a:tailEnd type="triangle"/>
          </a:ln>
        </p:spPr>
      </p:sp>
      <p:sp>
        <p:nvSpPr>
          <p:cNvPr id="73" name="Text 71"/>
          <p:cNvSpPr/>
          <p:nvPr/>
        </p:nvSpPr>
        <p:spPr>
          <a:xfrm>
            <a:off x="4480560" y="107899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5166360" y="2606040"/>
            <a:ext cx="1783080" cy="347472"/>
          </a:xfrm>
          <a:prstGeom prst="rect">
            <a:avLst/>
          </a:prstGeom>
          <a:solidFill>
            <a:srgbClr val="3B6B5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5166360" y="26060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call_llm()  —  Unified LLM Client</a:t>
            </a:r>
            <a:endParaRPr lang="en-US" sz="8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Retry, fallback chain, context caching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166360" y="2468880"/>
            <a:ext cx="1783080" cy="146304"/>
          </a:xfrm>
          <a:prstGeom prst="rect">
            <a:avLst/>
          </a:prstGeom>
          <a:solidFill>
            <a:srgbClr val="FFF3E6"/>
          </a:solidFill>
          <a:ln/>
        </p:spPr>
      </p:sp>
      <p:sp>
        <p:nvSpPr>
          <p:cNvPr id="77" name="Text 75"/>
          <p:cNvSpPr/>
          <p:nvPr/>
        </p:nvSpPr>
        <p:spPr>
          <a:xfrm>
            <a:off x="5166360" y="246888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 agents call call_llm()  (all except Output Agent)</a:t>
            </a:r>
            <a:endParaRPr lang="en-US" sz="550" dirty="0"/>
          </a:p>
        </p:txBody>
      </p:sp>
      <p:sp>
        <p:nvSpPr>
          <p:cNvPr id="78" name="Shape 76"/>
          <p:cNvSpPr/>
          <p:nvPr/>
        </p:nvSpPr>
        <p:spPr>
          <a:xfrm>
            <a:off x="5166360" y="3063240"/>
            <a:ext cx="841248" cy="320040"/>
          </a:xfrm>
          <a:prstGeom prst="rect">
            <a:avLst/>
          </a:prstGeom>
          <a:solidFill>
            <a:srgbClr val="2D4A3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5166360" y="306324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2.5-pro / flash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080760" y="3063240"/>
            <a:ext cx="841248" cy="320040"/>
          </a:xfrm>
          <a:prstGeom prst="rect">
            <a:avLst/>
          </a:prstGeom>
          <a:solidFill>
            <a:srgbClr val="2D4A3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6080760" y="306324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Claude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166360" y="3447288"/>
            <a:ext cx="841248" cy="320040"/>
          </a:xfrm>
          <a:prstGeom prst="rect">
            <a:avLst/>
          </a:prstGeom>
          <a:solidFill>
            <a:srgbClr val="4A7C6B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5166360" y="3447288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080760" y="3447288"/>
            <a:ext cx="841248" cy="320040"/>
          </a:xfrm>
          <a:prstGeom prst="rect">
            <a:avLst/>
          </a:prstGeom>
          <a:solidFill>
            <a:srgbClr val="4A7C6B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6080760" y="3447288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577840" y="2953512"/>
            <a:ext cx="0" cy="109728"/>
          </a:xfrm>
          <a:prstGeom prst="line">
            <a:avLst/>
          </a:prstGeom>
          <a:noFill/>
          <a:ln w="1016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6492240" y="2953512"/>
            <a:ext cx="0" cy="109728"/>
          </a:xfrm>
          <a:prstGeom prst="line">
            <a:avLst/>
          </a:prstGeom>
          <a:noFill/>
          <a:ln w="1016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7086600" y="2606040"/>
            <a:ext cx="1691640" cy="502920"/>
          </a:xfrm>
          <a:prstGeom prst="rect">
            <a:avLst/>
          </a:prstGeom>
          <a:solidFill>
            <a:srgbClr val="FFF3E6"/>
          </a:solidFill>
          <a:ln w="10160">
            <a:solidFill>
              <a:srgbClr val="D4956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32320" y="26243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Caching</a:t>
            </a: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Gemini: server-side, 1-hr TTL</a:t>
            </a: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B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ephemeral cache</a:t>
            </a:r>
            <a:endParaRPr lang="en-US" sz="800" dirty="0"/>
          </a:p>
          <a:p>
            <a:pPr indent="0" marL="0">
              <a:buNone/>
            </a:pPr>
            <a:r>
              <a:rPr lang="en-US" sz="7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80–90% token cost savings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949440" y="2779776"/>
            <a:ext cx="137160" cy="0"/>
          </a:xfrm>
          <a:prstGeom prst="line">
            <a:avLst/>
          </a:prstGeom>
          <a:noFill/>
          <a:ln w="10160">
            <a:solidFill>
              <a:srgbClr val="D4956A"/>
            </a:solidFill>
            <a:prstDash val="solid"/>
            <a:tailEnd type="triangle"/>
          </a:ln>
        </p:spPr>
      </p:sp>
      <p:sp>
        <p:nvSpPr>
          <p:cNvPr id="91" name="Text 89"/>
          <p:cNvSpPr/>
          <p:nvPr/>
        </p:nvSpPr>
        <p:spPr>
          <a:xfrm>
            <a:off x="320040" y="4160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OUTPUTS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320040" y="4370832"/>
            <a:ext cx="1554480" cy="347472"/>
          </a:xfrm>
          <a:prstGeom prst="rect">
            <a:avLst/>
          </a:prstGeom>
          <a:solidFill>
            <a:srgbClr val="4A7C6B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320040" y="43708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CSVs</a:t>
            </a:r>
            <a:endParaRPr lang="en-US" sz="8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Per-cluster store lists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984248" y="4370832"/>
            <a:ext cx="1554480" cy="347472"/>
          </a:xfrm>
          <a:prstGeom prst="rect">
            <a:avLst/>
          </a:prstGeom>
          <a:solidFill>
            <a:srgbClr val="4A7C6B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1984248" y="43708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PDF</a:t>
            </a:r>
            <a:endParaRPr lang="en-US" sz="8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+ segments + actions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3648456" y="4370832"/>
            <a:ext cx="1554480" cy="347472"/>
          </a:xfrm>
          <a:prstGeom prst="rect">
            <a:avLst/>
          </a:prstGeom>
          <a:solidFill>
            <a:srgbClr val="4A7C6B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3648456" y="43708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 Workbook</a:t>
            </a:r>
            <a:endParaRPr lang="en-US" sz="8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Hero/Strategic per bucket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5312664" y="4370832"/>
            <a:ext cx="1554480" cy="347472"/>
          </a:xfrm>
          <a:prstGeom prst="rect">
            <a:avLst/>
          </a:prstGeom>
          <a:solidFill>
            <a:srgbClr val="4A7C6B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5312664" y="43708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Allocation</a:t>
            </a:r>
            <a:endParaRPr lang="en-US" sz="8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facings &amp; planogram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6976872" y="4370832"/>
            <a:ext cx="1554480" cy="347472"/>
          </a:xfrm>
          <a:prstGeom prst="rect">
            <a:avLst/>
          </a:prstGeom>
          <a:solidFill>
            <a:srgbClr val="4A7C6B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1" name="Text 99"/>
          <p:cNvSpPr/>
          <p:nvPr/>
        </p:nvSpPr>
        <p:spPr>
          <a:xfrm>
            <a:off x="6976872" y="43708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Excel</a:t>
            </a:r>
            <a:endParaRPr lang="en-US" sz="8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A/B/C/D + opportunity gap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3017520" y="4279392"/>
            <a:ext cx="0" cy="320040"/>
          </a:xfrm>
          <a:prstGeom prst="line">
            <a:avLst/>
          </a:prstGeom>
          <a:noFill/>
          <a:ln w="1270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1097280" y="4599432"/>
            <a:ext cx="6656832" cy="0"/>
          </a:xfrm>
          <a:prstGeom prst="line">
            <a:avLst/>
          </a:prstGeom>
          <a:noFill/>
          <a:ln w="12700">
            <a:solidFill>
              <a:srgbClr val="84B59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97280" y="4599432"/>
            <a:ext cx="0" cy="-228600"/>
          </a:xfrm>
          <a:prstGeom prst="line">
            <a:avLst/>
          </a:prstGeom>
          <a:noFill/>
          <a:ln w="1016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2761488" y="4599432"/>
            <a:ext cx="0" cy="-228600"/>
          </a:xfrm>
          <a:prstGeom prst="line">
            <a:avLst/>
          </a:prstGeom>
          <a:noFill/>
          <a:ln w="1016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4425696" y="4599432"/>
            <a:ext cx="0" cy="-228600"/>
          </a:xfrm>
          <a:prstGeom prst="line">
            <a:avLst/>
          </a:prstGeom>
          <a:noFill/>
          <a:ln w="1016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6089904" y="4599432"/>
            <a:ext cx="0" cy="-228600"/>
          </a:xfrm>
          <a:prstGeom prst="line">
            <a:avLst/>
          </a:prstGeom>
          <a:noFill/>
          <a:ln w="1016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7754112" y="4599432"/>
            <a:ext cx="0" cy="-228600"/>
          </a:xfrm>
          <a:prstGeom prst="line">
            <a:avLst/>
          </a:prstGeom>
          <a:noFill/>
          <a:ln w="1016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109" name="Text 107"/>
          <p:cNvSpPr/>
          <p:nvPr/>
        </p:nvSpPr>
        <p:spPr>
          <a:xfrm>
            <a:off x="320040" y="477316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2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DATA REFERENCES</a:t>
            </a:r>
            <a:endParaRPr lang="en-US" sz="600" dirty="0"/>
          </a:p>
        </p:txBody>
      </p:sp>
      <p:sp>
        <p:nvSpPr>
          <p:cNvPr id="110" name="Shape 108"/>
          <p:cNvSpPr/>
          <p:nvPr/>
        </p:nvSpPr>
        <p:spPr>
          <a:xfrm>
            <a:off x="320040" y="4919472"/>
            <a:ext cx="2011680" cy="201168"/>
          </a:xfrm>
          <a:prstGeom prst="rect">
            <a:avLst/>
          </a:prstGeom>
          <a:solidFill>
            <a:srgbClr val="E8F0EC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65760" y="49194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.claude/config.json  —  Features, n_clusters, thresholds</a:t>
            </a:r>
            <a:endParaRPr lang="en-US" sz="600" dirty="0"/>
          </a:p>
        </p:txBody>
      </p:sp>
      <p:sp>
        <p:nvSpPr>
          <p:cNvPr id="112" name="Shape 110"/>
          <p:cNvSpPr/>
          <p:nvPr/>
        </p:nvSpPr>
        <p:spPr>
          <a:xfrm>
            <a:off x="2468880" y="4919472"/>
            <a:ext cx="2011680" cy="201168"/>
          </a:xfrm>
          <a:prstGeom prst="rect">
            <a:avLst/>
          </a:prstGeom>
          <a:solidFill>
            <a:srgbClr val="E8F0EC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514600" y="49194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India_Synthetic_SKU_Data.csv  —  Brand × PPG transactional data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4617720" y="4919472"/>
            <a:ext cx="2011680" cy="201168"/>
          </a:xfrm>
          <a:prstGeom prst="rect">
            <a:avLst/>
          </a:prstGeom>
          <a:solidFill>
            <a:srgbClr val="E8F0EC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663440" y="49194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CPG_Pack_Dimensions.xlsx  —  Physical pack sizes</a:t>
            </a:r>
            <a:endParaRPr lang="en-US" sz="600" dirty="0"/>
          </a:p>
        </p:txBody>
      </p:sp>
      <p:sp>
        <p:nvSpPr>
          <p:cNvPr id="116" name="Shape 114"/>
          <p:cNvSpPr/>
          <p:nvPr/>
        </p:nvSpPr>
        <p:spPr>
          <a:xfrm>
            <a:off x="6766560" y="4919472"/>
            <a:ext cx="2011680" cy="201168"/>
          </a:xfrm>
          <a:prstGeom prst="rect">
            <a:avLst/>
          </a:prstGeom>
          <a:solidFill>
            <a:srgbClr val="E8F0EC"/>
          </a:solidFill>
          <a:ln w="6350">
            <a:solidFill>
              <a:srgbClr val="84B59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812280" y="49194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CPG_Rack_Comparison.xlsx  —  Rack &amp; shelf specs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320040" y="4901184"/>
            <a:ext cx="365760" cy="0"/>
          </a:xfrm>
          <a:prstGeom prst="line">
            <a:avLst/>
          </a:prstGeom>
          <a:noFill/>
          <a:ln w="15240">
            <a:solidFill>
              <a:srgbClr val="84B59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Perfect Store — Logical Architecture</dc:title>
  <dc:subject>PptxGenJS Presentation</dc:subject>
  <dc:creator>Fasahat</dc:creator>
  <cp:lastModifiedBy>Fasahat</cp:lastModifiedBy>
  <cp:revision>1</cp:revision>
  <dcterms:created xsi:type="dcterms:W3CDTF">2026-05-06T07:39:55Z</dcterms:created>
  <dcterms:modified xsi:type="dcterms:W3CDTF">2026-05-06T07:39:55Z</dcterms:modified>
</cp:coreProperties>
</file>