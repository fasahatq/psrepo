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D4A3E"/>
                </a:solidFill>
                <a:latin typeface="Georgia"/>
              </a:rPr>
              <a:t>PerfectStore Solution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4A7C6B"/>
                </a:solidFill>
                <a:latin typeface="Calibri"/>
              </a:rPr>
              <a:t>Agentic AI for Perfect Store Execution — India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B74"/>
                </a:solidFill>
                <a:latin typeface="Calibri"/>
              </a:rPr>
              <a:t>Commercial Strategy  ×  Multi-Agent AI  ×  Field-Ready Execution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389120"/>
            <a:ext cx="9144000" cy="749808"/>
          </a:xfrm>
          <a:prstGeom prst="rect">
            <a:avLst/>
          </a:prstGeom>
          <a:solidFill>
            <a:srgbClr val="2D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480560"/>
            <a:ext cx="2057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India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4480560"/>
            <a:ext cx="2057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Snacks 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4480560"/>
            <a:ext cx="2057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6-Agent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480560"/>
            <a:ext cx="2057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Calibri"/>
              </a:rPr>
              <a:t>10,000-Outlet Run Validated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D4A3E"/>
                </a:solidFill>
                <a:latin typeface="Georgia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49808"/>
            <a:ext cx="1005840" cy="41148"/>
          </a:xfrm>
          <a:prstGeom prst="rect">
            <a:avLst/>
          </a:prstGeom>
          <a:solidFill>
            <a:srgbClr val="D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8046720" cy="585216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" y="1161288"/>
            <a:ext cx="365760" cy="365760"/>
          </a:xfrm>
          <a:prstGeom prst="ellipse">
            <a:avLst/>
          </a:prstGeom>
          <a:solidFill>
            <a:srgbClr val="4A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16128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0642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4A3E"/>
                </a:solidFill>
                <a:latin typeface="Calibri"/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80743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74"/>
                </a:solidFill>
                <a:latin typeface="Calibri"/>
              </a:rPr>
              <a:t>What Perfect Store is and what this AI solution automates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64792"/>
            <a:ext cx="8046720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232" y="1874519"/>
            <a:ext cx="365760" cy="365760"/>
          </a:xfrm>
          <a:prstGeom prst="ellipse">
            <a:avLst/>
          </a:prstGeom>
          <a:solidFill>
            <a:srgbClr val="4A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74519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81965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4A3E"/>
                </a:solidFill>
                <a:latin typeface="Calibri"/>
              </a:rPr>
              <a:t>Components /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093976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74"/>
                </a:solidFill>
                <a:latin typeface="Calibri"/>
              </a:rPr>
              <a:t>The 6-agent pipeline, knowledge layer, and LLM backend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78024"/>
            <a:ext cx="8046720" cy="585216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2587752"/>
            <a:ext cx="365760" cy="365760"/>
          </a:xfrm>
          <a:prstGeom prst="ellipse">
            <a:avLst/>
          </a:prstGeom>
          <a:solidFill>
            <a:srgbClr val="4A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58775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53288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4A3E"/>
                </a:solidFill>
                <a:latin typeface="Calibri"/>
              </a:rPr>
              <a:t>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807208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74"/>
                </a:solidFill>
                <a:latin typeface="Calibri"/>
              </a:rPr>
              <a:t>Live run — data in, executive outputs 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91256"/>
            <a:ext cx="8046720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3300984"/>
            <a:ext cx="365760" cy="365760"/>
          </a:xfrm>
          <a:prstGeom prst="ellipse">
            <a:avLst/>
          </a:prstGeom>
          <a:solidFill>
            <a:srgbClr val="4A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3009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2461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4A3E"/>
                </a:solidFill>
                <a:latin typeface="Calibri"/>
              </a:rPr>
              <a:t>Roadmap (optional)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520440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74"/>
                </a:solidFill>
                <a:latin typeface="Calibri"/>
              </a:rPr>
              <a:t>Where the agentic architecture goes next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904488"/>
            <a:ext cx="8046720" cy="585216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" y="4014216"/>
            <a:ext cx="365760" cy="365760"/>
          </a:xfrm>
          <a:prstGeom prst="ellipse">
            <a:avLst/>
          </a:prstGeom>
          <a:solidFill>
            <a:srgbClr val="4A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01421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9593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4A3E"/>
                </a:solidFill>
                <a:latin typeface="Calibri"/>
              </a:rPr>
              <a:t>Q&amp;A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233672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74"/>
                </a:solidFill>
                <a:latin typeface="Calibri"/>
              </a:rPr>
              <a:t>Open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D4A3E"/>
                </a:solidFill>
                <a:latin typeface="Georgia"/>
              </a:rPr>
              <a:t>Overview — What Is Perfect Store?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49808"/>
            <a:ext cx="1005840" cy="41148"/>
          </a:xfrm>
          <a:prstGeom prst="rect">
            <a:avLst/>
          </a:prstGeom>
          <a:solidFill>
            <a:srgbClr val="D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8046720" cy="658368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87552"/>
            <a:ext cx="76809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D4A3E"/>
                </a:solidFill>
                <a:latin typeface="Calibri"/>
              </a:rPr>
              <a:t>A CPG commercial execution framework that turns strategy into store-level action — defining, measuring, and improving what “good” looks like across channels and formats.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4A3E"/>
                </a:solidFill>
                <a:latin typeface="Georgia"/>
              </a:rPr>
              <a:t>Perfect Store answers 3 questions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54864" cy="457200"/>
          </a:xfrm>
          <a:prstGeom prst="rect">
            <a:avLst/>
          </a:prstGeom>
          <a:solidFill>
            <a:srgbClr val="D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D4A3E"/>
                </a:solidFill>
                <a:latin typeface="Calibri"/>
              </a:rPr>
              <a:t>Which stores matter most?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B74"/>
                </a:solidFill>
                <a:latin typeface="Calibri"/>
              </a:rPr>
              <a:t>Segmentation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70048"/>
            <a:ext cx="54864" cy="457200"/>
          </a:xfrm>
          <a:prstGeom prst="rect">
            <a:avLst/>
          </a:prstGeom>
          <a:solidFill>
            <a:srgbClr val="D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70048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D4A3E"/>
                </a:solidFill>
                <a:latin typeface="Calibri"/>
              </a:rPr>
              <a:t>What should happen there?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98648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B74"/>
                </a:solidFill>
                <a:latin typeface="Calibri"/>
              </a:rPr>
              <a:t>MSL, Price-Pack, Visibility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36976"/>
            <a:ext cx="54864" cy="457200"/>
          </a:xfrm>
          <a:prstGeom prst="rect">
            <a:avLst/>
          </a:prstGeom>
          <a:solidFill>
            <a:srgbClr val="D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36976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D4A3E"/>
                </a:solidFill>
                <a:latin typeface="Calibri"/>
              </a:rPr>
              <a:t>Are we executing well — and does it pay off?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65576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B74"/>
                </a:solidFill>
                <a:latin typeface="Calibri"/>
              </a:rPr>
              <a:t>Scorecards &amp; Value Realization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73736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4A3E"/>
                </a:solidFill>
                <a:latin typeface="Georgia"/>
              </a:rPr>
              <a:t>What this solution adds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103120"/>
            <a:ext cx="3886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2D4A3E"/>
                </a:solidFill>
                <a:latin typeface="Calibri"/>
              </a:rPr>
              <a:t>›  Automates </a:t>
            </a:r>
            <a:r>
              <a:rPr sz="1100">
                <a:solidFill>
                  <a:srgbClr val="6B7B74"/>
                </a:solidFill>
                <a:latin typeface="Calibri"/>
              </a:rPr>
              <a:t>the full lifecycle — segmentation → MSL → space allocation →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670048"/>
            <a:ext cx="3886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2D4A3E"/>
                </a:solidFill>
                <a:latin typeface="Calibri"/>
              </a:rPr>
              <a:t>›  Grounds every output </a:t>
            </a:r>
            <a:r>
              <a:rPr sz="1100">
                <a:solidFill>
                  <a:srgbClr val="6B7B74"/>
                </a:solidFill>
                <a:latin typeface="Calibri"/>
              </a:rPr>
              <a:t>in CPG commercial logic, not generic AI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236976"/>
            <a:ext cx="3886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2D4A3E"/>
                </a:solidFill>
                <a:latin typeface="Calibri"/>
              </a:rPr>
              <a:t>›  Runs unattended </a:t>
            </a:r>
            <a:r>
              <a:rPr sz="1100">
                <a:solidFill>
                  <a:srgbClr val="6B7B74"/>
                </a:solidFill>
                <a:latin typeface="Calibri"/>
              </a:rPr>
              <a:t>— watches inbox/, processes new data end-to-end, no manual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803904"/>
            <a:ext cx="3886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50">
                <a:solidFill>
                  <a:srgbClr val="2D4A3E"/>
                </a:solidFill>
                <a:latin typeface="Calibri"/>
              </a:rPr>
              <a:t>›  Replaces intuition </a:t>
            </a:r>
            <a:r>
              <a:rPr sz="1100">
                <a:solidFill>
                  <a:srgbClr val="6B7B74"/>
                </a:solidFill>
                <a:latin typeface="Calibri"/>
              </a:rPr>
              <a:t>with scalable, data-backed, auditable standards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590288"/>
            <a:ext cx="8046720" cy="384048"/>
          </a:xfrm>
          <a:prstGeom prst="rect">
            <a:avLst/>
          </a:prstGeom>
          <a:solidFill>
            <a:srgbClr val="2D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626864"/>
            <a:ext cx="7680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Objective: differentiated execution standards by store segment, activated through GTM routines, with measurable NSV / margin impact.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8646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4B59F"/>
                </a:solidFill>
                <a:latin typeface="Calibri"/>
              </a:rPr>
              <a:t>PerfectStore Solution Showcase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86460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4B59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D4A3E"/>
                </a:solidFill>
                <a:latin typeface="Georgia"/>
              </a:rPr>
              <a:t>Components — The 6-Agent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49808"/>
            <a:ext cx="1005840" cy="41148"/>
          </a:xfrm>
          <a:prstGeom prst="rect">
            <a:avLst/>
          </a:prstGeom>
          <a:solidFill>
            <a:srgbClr val="D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4206240" cy="512064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8368" y="1078992"/>
            <a:ext cx="365760" cy="365760"/>
          </a:xfrm>
          <a:prstGeom prst="ellipse">
            <a:avLst/>
          </a:prstGeom>
          <a:solidFill>
            <a:srgbClr val="4A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033272"/>
            <a:ext cx="3520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4A3E"/>
                </a:solidFill>
                <a:latin typeface="Calibri"/>
              </a:rPr>
              <a:t>Data Quality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261872"/>
            <a:ext cx="3520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B74"/>
                </a:solidFill>
                <a:latin typeface="Calibri"/>
              </a:rPr>
              <a:t>Null / outlier checks + LLM-verdict DQ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517904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4B59F"/>
                </a:solidFill>
                <a:latin typeface="Calibri"/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13916"/>
            <a:ext cx="4206240" cy="512064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" y="1687068"/>
            <a:ext cx="365760" cy="365760"/>
          </a:xfrm>
          <a:prstGeom prst="ellipse">
            <a:avLst/>
          </a:prstGeom>
          <a:solidFill>
            <a:srgbClr val="4A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6870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1641348"/>
            <a:ext cx="3520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4A3E"/>
                </a:solidFill>
                <a:latin typeface="Calibri"/>
              </a:rPr>
              <a:t>Prioritization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1869948"/>
            <a:ext cx="3520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B74"/>
                </a:solidFill>
                <a:latin typeface="Calibri"/>
              </a:rPr>
              <a:t>A/B/C/D tiers via quantile regression, opportunity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125980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4B59F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221992"/>
            <a:ext cx="4206240" cy="512064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" y="2295144"/>
            <a:ext cx="365760" cy="365760"/>
          </a:xfrm>
          <a:prstGeom prst="ellipse">
            <a:avLst/>
          </a:prstGeom>
          <a:solidFill>
            <a:srgbClr val="4A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29514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249424"/>
            <a:ext cx="3520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4A3E"/>
                </a:solidFill>
                <a:latin typeface="Calibri"/>
              </a:rPr>
              <a:t>Segmentation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2478024"/>
            <a:ext cx="3520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B74"/>
                </a:solidFill>
                <a:latin typeface="Calibri"/>
              </a:rPr>
              <a:t>KMeans on 25+ features, LLM-authored segment labels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734056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4B59F"/>
                </a:solidFill>
                <a:latin typeface="Calibri"/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830068"/>
            <a:ext cx="4206240" cy="512064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8368" y="2903220"/>
            <a:ext cx="365760" cy="365760"/>
          </a:xfrm>
          <a:prstGeom prst="ellipse">
            <a:avLst/>
          </a:prstGeom>
          <a:solidFill>
            <a:srgbClr val="4A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90322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2857500"/>
            <a:ext cx="3520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4A3E"/>
                </a:solidFill>
                <a:latin typeface="Calibri"/>
              </a:rPr>
              <a:t>MSL Generator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3086100"/>
            <a:ext cx="3520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B74"/>
                </a:solidFill>
                <a:latin typeface="Calibri"/>
              </a:rPr>
              <a:t>Hero vs. Strategic SKU list per segment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3342132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4B59F"/>
                </a:solidFill>
                <a:latin typeface="Calibri"/>
              </a:rPr>
              <a:t>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38144"/>
            <a:ext cx="4206240" cy="512064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8368" y="3511296"/>
            <a:ext cx="365760" cy="365760"/>
          </a:xfrm>
          <a:prstGeom prst="ellipse">
            <a:avLst/>
          </a:prstGeom>
          <a:solidFill>
            <a:srgbClr val="4A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5112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3465576"/>
            <a:ext cx="3520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4A3E"/>
                </a:solidFill>
                <a:latin typeface="Calibri"/>
              </a:rPr>
              <a:t>Output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3694176"/>
            <a:ext cx="3520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B74"/>
                </a:solidFill>
                <a:latin typeface="Calibri"/>
              </a:rPr>
              <a:t>Executive PDF, Excel workbooks, segment CSVs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3950208"/>
            <a:ext cx="365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4B59F"/>
                </a:solidFill>
                <a:latin typeface="Calibri"/>
              </a:rPr>
              <a:t>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046220"/>
            <a:ext cx="4206240" cy="512064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8368" y="4119372"/>
            <a:ext cx="365760" cy="365760"/>
          </a:xfrm>
          <a:prstGeom prst="ellipse">
            <a:avLst/>
          </a:prstGeom>
          <a:solidFill>
            <a:srgbClr val="4A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411937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" y="4073652"/>
            <a:ext cx="3520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4A3E"/>
                </a:solidFill>
                <a:latin typeface="Calibri"/>
              </a:rPr>
              <a:t>Space Allocation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" y="4302252"/>
            <a:ext cx="3520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B74"/>
                </a:solidFill>
                <a:latin typeface="Calibri"/>
              </a:rPr>
              <a:t>Rack-ready facings, shelf zones, days-of-supply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492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D4A3E"/>
                </a:solidFill>
                <a:latin typeface="Georgia"/>
              </a:rPr>
              <a:t>Sequential, context-compounding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74920" y="1417320"/>
            <a:ext cx="45720" cy="457200"/>
          </a:xfrm>
          <a:prstGeom prst="rect">
            <a:avLst/>
          </a:prstGeom>
          <a:solidFill>
            <a:srgbClr val="D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7800" y="141732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B74"/>
                </a:solidFill>
                <a:latin typeface="Calibri"/>
              </a:rPr>
              <a:t>Each agent's output becomes the next agent's context — DQ verdict feeds prioritization, priority tier feeds segmentation, segments feed MSL.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4920" y="2258568"/>
            <a:ext cx="45720" cy="457200"/>
          </a:xfrm>
          <a:prstGeom prst="rect">
            <a:avLst/>
          </a:prstGeom>
          <a:solidFill>
            <a:srgbClr val="D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57800" y="2258568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B74"/>
                </a:solidFill>
                <a:latin typeface="Calibri"/>
              </a:rPr>
              <a:t>Config-driven: features, thresholds, cluster count all live in config.json — no code change to retune.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74920" y="3099816"/>
            <a:ext cx="45720" cy="457200"/>
          </a:xfrm>
          <a:prstGeom prst="rect">
            <a:avLst/>
          </a:prstGeom>
          <a:solidFill>
            <a:srgbClr val="D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57800" y="3099816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B7B74"/>
                </a:solidFill>
                <a:latin typeface="Calibri"/>
              </a:rPr>
              <a:t>Graceful degradation: rule-based fallback at every step if the LLM call fails.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8646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4B59F"/>
                </a:solidFill>
                <a:latin typeface="Calibri"/>
              </a:rPr>
              <a:t>PerfectStore Solution Showcase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486460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4B59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D4A3E"/>
                </a:solidFill>
                <a:latin typeface="Georgia"/>
              </a:rPr>
              <a:t>Components — Knowledge Layer &amp; LLM 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49808"/>
            <a:ext cx="1005840" cy="41148"/>
          </a:xfrm>
          <a:prstGeom prst="rect">
            <a:avLst/>
          </a:prstGeom>
          <a:solidFill>
            <a:srgbClr val="D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D4A3E"/>
                </a:solidFill>
                <a:latin typeface="Georgia"/>
              </a:rPr>
              <a:t>Commercial context as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B74"/>
                </a:solidFill>
                <a:latin typeface="Calibri"/>
              </a:rPr>
              <a:t>ContextLoader injects curated markdown (context/project.md + per-agent files) as system prompts — grounding every LLM call in Perfect Store logic. Deterministic, version-controlled RAG with zero retrieval-relevance risk.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3840480" cy="402336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920239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7C6B"/>
                </a:solidFill>
                <a:latin typeface="Calibri"/>
              </a:rPr>
              <a:t>Geography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920239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Calibri"/>
              </a:rPr>
              <a:t>Metro → Tier-1 → Tier-2/3 → Rural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3840480" cy="402336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377439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7C6B"/>
                </a:solidFill>
                <a:latin typeface="Calibri"/>
              </a:rPr>
              <a:t>Portfolio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377439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Calibri"/>
              </a:rPr>
              <a:t>Lays, Kurkure, Doritos + India PPG (₹5/10/20/30...)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3840480" cy="402336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834639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7C6B"/>
                </a:solidFill>
                <a:latin typeface="Calibri"/>
              </a:rPr>
              <a:t>Channels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834639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Calibri"/>
              </a:rPr>
              <a:t>GT, MT, AfH, EC trade definitions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46120"/>
            <a:ext cx="3840480" cy="402336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91839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7C6B"/>
                </a:solidFill>
                <a:latin typeface="Calibri"/>
              </a:rPr>
              <a:t>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291839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Calibri"/>
              </a:rPr>
              <a:t>VPO, BI, SEC, opportunity gap glossary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91440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D4A3E"/>
                </a:solidFill>
                <a:latin typeface="Georgia"/>
              </a:rPr>
              <a:t>LLM backend — swappable, resilient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128016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D4A3E"/>
                </a:solidFill>
                <a:latin typeface="Calibri"/>
              </a:rPr>
              <a:t>›  Unified call_llm() client</a:t>
            </a:r>
          </a:p>
          <a:p>
            <a:r>
              <a:rPr sz="950">
                <a:solidFill>
                  <a:srgbClr val="6B7B74"/>
                </a:solidFill>
                <a:latin typeface="Calibri"/>
              </a:rPr>
              <a:t>One interface abstracts Gemini, Vertex AI, Claude &amp; local Ollama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1993391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D4A3E"/>
                </a:solidFill>
                <a:latin typeface="Calibri"/>
              </a:rPr>
              <a:t>›  Automatic fallback chain</a:t>
            </a:r>
          </a:p>
          <a:p>
            <a:r>
              <a:rPr sz="950">
                <a:solidFill>
                  <a:srgbClr val="6B7B74"/>
                </a:solidFill>
                <a:latin typeface="Calibri"/>
              </a:rPr>
              <a:t>2.5-pro → 2.5-flash → 2.0-flash for resilience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706624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D4A3E"/>
                </a:solidFill>
                <a:latin typeface="Calibri"/>
              </a:rPr>
              <a:t>›  Context caching</a:t>
            </a:r>
          </a:p>
          <a:p>
            <a:r>
              <a:rPr sz="950">
                <a:solidFill>
                  <a:srgbClr val="6B7B74"/>
                </a:solidFill>
                <a:latin typeface="Calibri"/>
              </a:rPr>
              <a:t>Server-side, 1-hr TTL — ~75% input-token cost reduction measured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419856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2D4A3E"/>
                </a:solidFill>
                <a:latin typeface="Calibri"/>
              </a:rPr>
              <a:t>›  Structured parsing</a:t>
            </a:r>
          </a:p>
          <a:p>
            <a:r>
              <a:rPr sz="950">
                <a:solidFill>
                  <a:srgbClr val="6B7B74"/>
                </a:solidFill>
                <a:latin typeface="Calibri"/>
              </a:rPr>
              <a:t>JSON-first with regex fallback if the model drifts off-schema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solidFill>
            <a:srgbClr val="2D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224528"/>
            <a:ext cx="7680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Multi-market ready: swap /context/project.md to onboard a new market — zero code changes.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646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4B59F"/>
                </a:solidFill>
                <a:latin typeface="Calibri"/>
              </a:rPr>
              <a:t>PerfectStore Solution Showcase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86460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4B59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D4A3E"/>
                </a:solidFill>
                <a:latin typeface="Georgia"/>
              </a:rPr>
              <a:t>Demo — Data In, Executive Outputs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49808"/>
            <a:ext cx="1005840" cy="41148"/>
          </a:xfrm>
          <a:prstGeom prst="rect">
            <a:avLst/>
          </a:prstGeom>
          <a:solidFill>
            <a:srgbClr val="D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D4A3E"/>
                </a:solidFill>
                <a:latin typeface="Georgia"/>
              </a:rPr>
              <a:t>What we'll run live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234440"/>
            <a:ext cx="274320" cy="274320"/>
          </a:xfrm>
          <a:prstGeom prst="ellipse">
            <a:avLst/>
          </a:prstGeom>
          <a:solidFill>
            <a:srgbClr val="4A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161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B74"/>
                </a:solidFill>
                <a:latin typeface="Calibri"/>
              </a:rPr>
              <a:t>Drop a raw outlet/SKU file into inbox/ (or python main.py run &lt;file&gt;)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764792"/>
            <a:ext cx="274320" cy="274320"/>
          </a:xfrm>
          <a:prstGeom prst="ellipse">
            <a:avLst/>
          </a:prstGeom>
          <a:solidFill>
            <a:srgbClr val="4A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6479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4650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B74"/>
                </a:solidFill>
                <a:latin typeface="Calibri"/>
              </a:rPr>
              <a:t>Watcher auto-detects format, pipeline runs all 6 agents end-to-end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95144"/>
            <a:ext cx="274320" cy="274320"/>
          </a:xfrm>
          <a:prstGeom prst="ellipse">
            <a:avLst/>
          </a:prstGeom>
          <a:solidFill>
            <a:srgbClr val="4A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95144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76856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B74"/>
                </a:solidFill>
                <a:latin typeface="Calibri"/>
              </a:rPr>
              <a:t>Walk through the generated DQ report, priority tiers, and segment labels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2825496"/>
            <a:ext cx="274320" cy="274320"/>
          </a:xfrm>
          <a:prstGeom prst="ellipse">
            <a:avLst/>
          </a:prstGeom>
          <a:solidFill>
            <a:srgbClr val="4A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825496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80720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B74"/>
                </a:solidFill>
                <a:latin typeface="Calibri"/>
              </a:rPr>
              <a:t>Open the MSL workbook, Space Allocation workbook, and executive 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2900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D4A3E"/>
                </a:solidFill>
                <a:latin typeface="Georgia"/>
              </a:rPr>
              <a:t>Reference run — 10,000 outlets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B74"/>
                </a:solidFill>
                <a:latin typeface="Calibri"/>
              </a:rPr>
              <a:t>•  6 segments — largest: 5,088 outlets (Urban High-Footfall Impulse GT)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776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B74"/>
                </a:solidFill>
                <a:latin typeface="Calibri"/>
              </a:rPr>
              <a:t>•  8 priority tiers — A+ (644) down to D (180 outlets)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5195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B74"/>
                </a:solidFill>
                <a:latin typeface="Calibri"/>
              </a:rPr>
              <a:t>•  4 output workbooks + 1 executive PDF per run, fully unattended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914400"/>
            <a:ext cx="3886200" cy="3520440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luster_bar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17320"/>
            <a:ext cx="3611880" cy="17770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09160" y="342900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B74"/>
                </a:solidFill>
                <a:latin typeface="Calibri"/>
              </a:rPr>
              <a:t>Actual chart output — segment_report workbook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646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4B59F"/>
                </a:solidFill>
                <a:latin typeface="Calibri"/>
              </a:rPr>
              <a:t>PerfectStore Solution Showcase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86460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4B59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D4A3E"/>
                </a:solidFill>
                <a:latin typeface="Georgia"/>
              </a:rPr>
              <a:t>Roadmap (Optional)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49808"/>
            <a:ext cx="1005840" cy="41148"/>
          </a:xfrm>
          <a:prstGeom prst="rect">
            <a:avLst/>
          </a:prstGeom>
          <a:solidFill>
            <a:srgbClr val="D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54864" cy="749808"/>
          </a:xfrm>
          <a:prstGeom prst="rect">
            <a:avLst/>
          </a:prstGeom>
          <a:solidFill>
            <a:srgbClr val="D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170432"/>
            <a:ext cx="384048" cy="384048"/>
          </a:xfrm>
          <a:prstGeom prst="ellipse">
            <a:avLst/>
          </a:prstGeom>
          <a:solidFill>
            <a:srgbClr val="4A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17043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078992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4A3E"/>
                </a:solidFill>
                <a:latin typeface="Calibri"/>
              </a:rPr>
              <a:t>Supervisor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35331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B74"/>
                </a:solidFill>
                <a:latin typeface="Calibri"/>
              </a:rPr>
              <a:t>Meta-orchestrator that monitors agent outputs and triggers re-runs on quality failures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65376"/>
            <a:ext cx="8046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65376"/>
            <a:ext cx="54864" cy="749808"/>
          </a:xfrm>
          <a:prstGeom prst="rect">
            <a:avLst/>
          </a:prstGeom>
          <a:solidFill>
            <a:srgbClr val="D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2029968"/>
            <a:ext cx="384048" cy="384048"/>
          </a:xfrm>
          <a:prstGeom prst="ellipse">
            <a:avLst/>
          </a:prstGeom>
          <a:solidFill>
            <a:srgbClr val="4A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02996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1938528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4A3E"/>
                </a:solidFill>
                <a:latin typeface="Calibri"/>
              </a:rPr>
              <a:t>Inter-Agent Feedback Loops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212848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B74"/>
                </a:solidFill>
                <a:latin typeface="Calibri"/>
              </a:rPr>
              <a:t>Agents negotiate instead of passing static text — e.g. MSL flags priority misalignment back to Segmentation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24912"/>
            <a:ext cx="8046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724912"/>
            <a:ext cx="54864" cy="749808"/>
          </a:xfrm>
          <a:prstGeom prst="rect">
            <a:avLst/>
          </a:prstGeom>
          <a:solidFill>
            <a:srgbClr val="D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2889504"/>
            <a:ext cx="384048" cy="384048"/>
          </a:xfrm>
          <a:prstGeom prst="ellipse">
            <a:avLst/>
          </a:prstGeom>
          <a:solidFill>
            <a:srgbClr val="4A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88950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2798064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4A3E"/>
                </a:solidFill>
                <a:latin typeface="Calibri"/>
              </a:rPr>
              <a:t>Natural Language Query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072384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B74"/>
                </a:solidFill>
                <a:latin typeface="Calibri"/>
              </a:rPr>
              <a:t>Conversational layer over pipeline outputs — “Which B+ stores in Maharashtra have the highest gap for Kurkure?”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84448"/>
            <a:ext cx="8046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584448"/>
            <a:ext cx="54864" cy="749808"/>
          </a:xfrm>
          <a:prstGeom prst="rect">
            <a:avLst/>
          </a:prstGeom>
          <a:solidFill>
            <a:srgbClr val="D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9808" y="3749039"/>
            <a:ext cx="384048" cy="384048"/>
          </a:xfrm>
          <a:prstGeom prst="ellipse">
            <a:avLst/>
          </a:prstGeom>
          <a:solidFill>
            <a:srgbClr val="4A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749039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3657600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4A3E"/>
                </a:solidFill>
                <a:latin typeface="Calibri"/>
              </a:rPr>
              <a:t>Scenario Simulation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39319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B74"/>
                </a:solidFill>
                <a:latin typeface="Calibri"/>
              </a:rPr>
              <a:t>“What if we add 3 SKUs to Bucket C?” — re-runs downstream and shows comparative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8646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4B59F"/>
                </a:solidFill>
                <a:latin typeface="Calibri"/>
              </a:rPr>
              <a:t>PerfectStore Solution Showcase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86460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4B59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Georgia"/>
              </a:rPr>
              <a:t>Questions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0" y="2788920"/>
            <a:ext cx="1280160" cy="45720"/>
          </a:xfrm>
          <a:prstGeom prst="rect">
            <a:avLst/>
          </a:prstGeom>
          <a:solidFill>
            <a:srgbClr val="D49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4B59F"/>
                </a:solidFill>
                <a:latin typeface="Calibri"/>
              </a:rPr>
              <a:t>PerfectStore Solution Showcase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